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3716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TIES 4911  · 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0" y="6400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A78BFA"/>
                </a:solidFill>
              </a:rPr>
              <a:t>Task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0" y="10058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8F8"/>
                </a:solidFill>
              </a:rPr>
              <a:t>Generative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8F8F8"/>
                </a:solidFill>
              </a:rPr>
              <a:t>Models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84048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CVAE  ·  DCGAN vs MLP-GAN  ·  Stable Diffusion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3154680"/>
            <a:ext cx="265176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Dataset: tf_flowers  (3,670 images)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0" y="4480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Bahous Amine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88888"/>
                </a:solidFill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8F8"/>
                </a:solidFill>
              </a:rPr>
              <a:t>What We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8F8"/>
                </a:solidFill>
              </a:rPr>
              <a:t>CVAE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8424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Conditional Variational Autoencoder — class-conditioned flower generation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804672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87752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334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6791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8F8"/>
                </a:solidFill>
              </a:rPr>
              <a:t>DCGAN vs MLP-GAN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0632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Two architectures, one dataset, compared side-by-side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804672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66744"/>
            <a:ext cx="64008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1246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37581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8F8"/>
                </a:solidFill>
              </a:rPr>
              <a:t>Stable Diffusion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1422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Prompt engineering &amp; generative AI services explored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8F8"/>
                </a:solidFill>
              </a:rPr>
              <a:t>tf_flowers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3,670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Total Images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92024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4813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Flower Classes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92024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4813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64×64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Pixel Resolution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192024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4813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80/20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03720" y="1920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Train / Test Split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468880"/>
            <a:ext cx="82296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8F8"/>
                </a:solidFill>
              </a:rPr>
              <a:t>Conditional VAE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Generating flowers conditioned on class labels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82880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Input Image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+ Class Label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965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23160" y="1691640"/>
            <a:ext cx="182880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691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Encoder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Conv + Dense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0" y="1965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1828800" cy="868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1691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Latent Space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z ~ N(μ, σ²)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3640" y="1965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182880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691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Decoder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Dense + Conv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Generated Image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Architecture 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91640" y="2926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Conv encoder, Dense latent projections, deconvolutional decoder (latent dim: 128)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Loss 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91640" y="3584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Reconstruction loss (MSE) + KL divergence regularisation (ELBO)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29260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Conditioning 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926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Class label embedded and concatenated at both encoder and decoder stages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35844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Training 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3584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60 epochs on tf_flowers — train/test loss converge cleanly after ~15 epochs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8-1  · 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8F8"/>
                </a:solidFill>
              </a:rPr>
              <a:t>CVAE Training Loss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ELBO loss (train + test) over 60 epochs — both curves converge, confirming stable learning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768096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480560"/>
            <a:ext cx="3931920" cy="47548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4526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Sharp drop  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737360" y="4526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Loss falls steeply in first 10 epochs as model learns basic structure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46320" y="4480560"/>
            <a:ext cx="3931920" cy="47548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4526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Convergence  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35040" y="4526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Train and test loss stabilise together — no significant overfitting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8-1  ·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8F8"/>
                </a:solidFill>
              </a:rPr>
              <a:t>CVAE Generated &amp; Reconstructed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Conditioned Generation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457200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261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Original vs. Reconstructed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2080" y="1554480"/>
            <a:ext cx="3749040" cy="2194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840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Latent Space Interpolation  (daisy → sunflowers  ·  roses → tulips)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411480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8F8"/>
                </a:solidFill>
              </a:rPr>
              <a:t>DCGAN vs MLP-GAN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Two generator architectures trained on the same flowers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3017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4023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DCGAN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Generator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4140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Dense → Reshape → 3× Conv2DTranspose → tanh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7980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Discriminator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035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3× Conv2D → Flatten → Dense(1)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419856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Strength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Captures spatial structure via convolutions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04164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Output size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279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32×32×3 color images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1691640"/>
            <a:ext cx="4023360" cy="3017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691640"/>
            <a:ext cx="4023360" cy="3474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691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F"/>
                </a:solidFill>
              </a:rPr>
              <a:t>MLP-GAN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17627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Generator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4140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Dense → Dense → Dense → Reshape → tanh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279806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Discriminator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035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Flatten → Dense → Dense → Dense(1)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419856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Strength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Simpler; fewer parameters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404164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Output size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279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32×32×3 (same res, lower quality)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188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Key modification: Conv2D/Conv2DTranspose layers replaced with Dense layers in MLP variant — derived directly from DCGAN code.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8-2  · 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8F8"/>
                </a:solidFill>
              </a:rPr>
              <a:t>Training Loss Comparison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Generator and discriminator loss over 30 epochs — DCGAN stabilises, MLP-GAN struggles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804672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480560"/>
            <a:ext cx="39319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48056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5262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DCGAN  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417320" y="4526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8"/>
                </a:solidFill>
              </a:rPr>
              <a:t>Generator loss stabilises ~0.75; discriminator holds steady — balanced adversarial training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4480560"/>
            <a:ext cx="39319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4480560"/>
            <a:ext cx="54864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45262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MLP-GAN  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15000" y="4526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8"/>
                </a:solidFill>
              </a:rPr>
              <a:t>Generator loss stays higher (~1.5); discriminator weaker — no spatial inductive bias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8-2  ·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8F8"/>
                </a:solidFill>
              </a:rPr>
              <a:t>Generated Images: DCGAN vs MLP-GAN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DCGAN — Epoch 30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402336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MLP-GAN — Epoch 30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554480"/>
            <a:ext cx="4023360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DCGAN produces more coherent colour blobs with flower-like structure. MLP-GAN generates noisier, more random patterns — convolutions matter for image data.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8-2  · 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8F8"/>
                </a:solidFill>
              </a:rPr>
              <a:t>Real vs DCGAN vs MLP-GAN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Top row: real flowers · Middle row: DCGAN · Bottom row: MLP-GAN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82296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DCGAN captures colour distributions and some spatial structure. MLP-GAN fails to learn meaningful patterns — purely pixel-level noise.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8F8"/>
                </a:solidFill>
              </a:rPr>
              <a:t>Stable Diffusion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Text-to-image generation via KerasCV · Prompt engineering exploration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0604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1572768"/>
            <a:ext cx="320040" cy="3200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8F8"/>
                </a:solidFill>
              </a:rPr>
              <a:t>CLIP Text Encoder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Converts text prompts into semantic embeddings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691640"/>
            <a:ext cx="260604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3128" y="1572768"/>
            <a:ext cx="320040" cy="3200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0128" y="1828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8F8"/>
                </a:solidFill>
              </a:rPr>
              <a:t>U-Net Diffusion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01568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Iteratively denoises latent vectors guided by 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1691640"/>
            <a:ext cx="260604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06056" y="1572768"/>
            <a:ext cx="320040" cy="3200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6056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63056" y="1828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8F8"/>
                </a:solidFill>
              </a:rPr>
              <a:t>VAE Decoder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54496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Decodes latent vectors back into pixel images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8F8"/>
                </a:solidFill>
              </a:rPr>
              <a:t>Prompts Explored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264408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8"/>
                </a:solidFill>
              </a:rPr>
              <a:t>Nature &amp; Botanical — sunflower field at golden hour, macro rose with morning dew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657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8"/>
                </a:solidFill>
              </a:rPr>
              <a:t>Art Style Exploration — same lion portrait: photorealistic vs oil painting vs anime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270248"/>
            <a:ext cx="109728" cy="1097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160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8"/>
                </a:solidFill>
              </a:rPr>
              <a:t>Guidance Scale Effect — CFG 3 vs 7.5 vs 15 on same prompt (zen garden theme)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828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Model: KerasCV StableDiffusion · Resolution: 256×256 · Steps: 20–25 · CFG scale: 3–15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8-3  ·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8F8"/>
                </a:solidFill>
              </a:rPr>
              <a:t>Nature &amp; Botanical Prompts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"A vibrant field of sunflowers at golden hour"  ·  "Macro photography of a red rose with morning dew"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554480"/>
            <a:ext cx="73152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Stable Diffusion accurately renders photorealistic flower textures from natural-language descriptions alone.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8-3  ·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8F8"/>
                </a:solidFill>
              </a:rPr>
              <a:t>Art Style Exploration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Same subject (majestic lion portrait) — three different style modifiers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82296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434840"/>
            <a:ext cx="2606040" cy="47548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44348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8F8"/>
                </a:solidFill>
              </a:rPr>
              <a:t>Photorealistic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10128" y="4434840"/>
            <a:ext cx="2606040" cy="47548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10128" y="44348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8F8"/>
                </a:solidFill>
              </a:rPr>
              <a:t>Oil painting · Impressionist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63056" y="4434840"/>
            <a:ext cx="2606040" cy="47548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63056" y="44348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8F8"/>
                </a:solidFill>
              </a:rPr>
              <a:t>Anime art style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8-3  ·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8F8"/>
                </a:solidFill>
              </a:rPr>
              <a:t>Effect of Guidance Scale (CFG)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Lower CFG = more creative freedom · Higher CFG = stronger prompt adherence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82296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434840"/>
            <a:ext cx="260604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45079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CFG = 3  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54480" y="4507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Loose — dreamlike, less structured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10128" y="4434840"/>
            <a:ext cx="260604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47288" y="45079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CFG = 7.5  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07408" y="4507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Balanced — default recommended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63056" y="4434840"/>
            <a:ext cx="260604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0216" y="45079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CFG = 15  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60336" y="4507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Strict — high prompt fidelity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8-3  ·  EXPLORATION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8F8"/>
                </a:solidFill>
              </a:rPr>
              <a:t>Generative AI Services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77640" cy="8229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" cy="8229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1618488"/>
            <a:ext cx="64008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618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0F0F"/>
                </a:solidFill>
              </a:rPr>
              <a:t>Image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8F8"/>
                </a:solidFill>
              </a:rPr>
              <a:t>DALL·E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High-fidelity text-to-image, strong prompt adherence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977640" cy="8229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14600"/>
            <a:ext cx="64008" cy="8229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2624328"/>
            <a:ext cx="64008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6243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0F0F"/>
                </a:solidFill>
              </a:rPr>
              <a:t>Image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8F8"/>
                </a:solidFill>
              </a:rPr>
              <a:t>Midjourney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Artistic, highly stylized outputs via Discord bot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3977640" cy="8229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64008" cy="8229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3630168"/>
            <a:ext cx="640080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630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0F0F"/>
                </a:solidFill>
              </a:rPr>
              <a:t>Video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8F8"/>
                </a:solidFill>
              </a:rPr>
              <a:t>Sora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OpenAI text-to-video; cinematic motion and scene coherence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508760"/>
            <a:ext cx="3977640" cy="8229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508760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1618488"/>
            <a:ext cx="64008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618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0F0F"/>
                </a:solidFill>
              </a:rPr>
              <a:t>Audio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8F8"/>
                </a:solidFill>
              </a:rPr>
              <a:t>ElevenLabs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1965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Voice synthesis and cloning; near-human quality TTS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514600"/>
            <a:ext cx="3977640" cy="8229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514600"/>
            <a:ext cx="64008" cy="8229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2624328"/>
            <a:ext cx="640080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26243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0F0F"/>
                </a:solidFill>
              </a:rPr>
              <a:t>Video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46320" y="2606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8F8"/>
                </a:solidFill>
              </a:rPr>
              <a:t>Runway Gen-3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2971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Image-to-video and text-to-video generation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520440"/>
            <a:ext cx="3977640" cy="8229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520440"/>
            <a:ext cx="64008" cy="8229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0" y="3630168"/>
            <a:ext cx="64008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3630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0F0F"/>
                </a:solidFill>
              </a:rPr>
              <a:t>Image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4632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8F8"/>
                </a:solidFill>
              </a:rPr>
              <a:t>Adobe Firefly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3977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Commercial-safe image generation integrated with CC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8F8"/>
                </a:solidFill>
              </a:rPr>
              <a:t>Model Comparison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76272" y="1444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62272" y="1444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33872" y="14447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Quality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14032" y="1444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18181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28800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288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CVAE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12848" y="1828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Conv Encoder + Decoder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98848" y="182880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Class-conditioned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70448" y="1828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Moderate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50608" y="18288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Fast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487168"/>
            <a:ext cx="82296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87168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48716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DCGAN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12848" y="24871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Conv Generator + Disc.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98848" y="248716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None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70448" y="2487168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Good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50608" y="2487168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Medium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145536"/>
            <a:ext cx="8229600" cy="594360"/>
          </a:xfrm>
          <a:prstGeom prst="rect">
            <a:avLst/>
          </a:prstGeom>
          <a:solidFill>
            <a:srgbClr val="18181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45536"/>
            <a:ext cx="54864" cy="594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14553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MLP-GAN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12848" y="314553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Dense Generator + Disc.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98848" y="3145536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None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70448" y="3145536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Low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50608" y="3145536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Medium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803904"/>
            <a:ext cx="82296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803904"/>
            <a:ext cx="54864" cy="594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803904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</a:rPr>
              <a:t>Stable Diffusion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212848" y="380390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CLIP + U-Net + VAE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98848" y="3803904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Text prompts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70448" y="3803904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Excellent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50608" y="3803904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8"/>
                </a:solidFill>
              </a:rPr>
              <a:t>Slow*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* Stable Diffusion run at 256×256; jit_compile disabled for CPU compatibility.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8F8"/>
                </a:solidFill>
              </a:rPr>
              <a:t>Conclusions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8229600" cy="74980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8F8"/>
                </a:solidFill>
              </a:rPr>
              <a:t>CVAE learns a class-conditioned latent space; class-specific generation and latent interpolation both work as expected.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130552"/>
            <a:ext cx="8229600" cy="74980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2219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26771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8F8"/>
                </a:solidFill>
              </a:rPr>
              <a:t>Convolutional layers are critical for image quality — DCGAN clearly outperforms MLP-GAN in structure and coherence.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026664"/>
            <a:ext cx="8229600" cy="74980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1810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63824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8F8"/>
                </a:solidFill>
              </a:rPr>
              <a:t>Stable Diffusion demonstrates the power of large-scale diffusion models; style modifiers and CFG scale dramatically affect output.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8229600" cy="74980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01421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059936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8F8"/>
                </a:solidFill>
              </a:rPr>
              <a:t>Commercial services (DALL·E 3, Midjourney, Runway) achieve production-level quality far beyond small-scale training runs.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Bahous Amine  ·  TIES 4911 (2026)  ·  Task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8 - Generative Models</dc:title>
  <dc:subject>PptxGenJS Presentation</dc:subject>
  <dc:creator>Bahous Amine</dc:creator>
  <cp:lastModifiedBy>Bahous Amine</cp:lastModifiedBy>
  <cp:revision>1</cp:revision>
  <dcterms:created xsi:type="dcterms:W3CDTF">2026-05-14T23:07:35Z</dcterms:created>
  <dcterms:modified xsi:type="dcterms:W3CDTF">2026-05-14T23:07:35Z</dcterms:modified>
</cp:coreProperties>
</file>